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1554480"/>
            <a:ext cx="7863840" cy="82296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使いこなし倶楽部 Vol.3</a:t>
            </a:r>
            <a:endParaRPr lang="en-US" sz="3400" dirty="0"/>
          </a:p>
        </p:txBody>
      </p:sp>
      <p:sp>
        <p:nvSpPr>
          <p:cNvPr id="3" name="Text 1"/>
          <p:cNvSpPr/>
          <p:nvPr/>
        </p:nvSpPr>
        <p:spPr>
          <a:xfrm>
            <a:off x="640080" y="2286000"/>
            <a:ext cx="7863840" cy="548640"/>
          </a:xfrm>
          <a:prstGeom prst="rect">
            <a:avLst/>
          </a:prstGeom>
          <a:noFill/>
          <a:ln/>
        </p:spPr>
        <p:txBody>
          <a:bodyPr wrap="square" rtlCol="0" anchor="ctr"/>
          <a:lstStyle/>
          <a:p>
            <a:pPr indent="0" marL="0">
              <a:buNone/>
            </a:pPr>
            <a:r>
              <a:rPr lang="en-US" sz="2000" dirty="0">
                <a:solidFill>
                  <a:srgbClr val="CADCFC"/>
                </a:solidFill>
                <a:latin typeface="Arial" pitchFamily="34" charset="0"/>
                <a:ea typeface="Arial" pitchFamily="34" charset="-122"/>
                <a:cs typeface="Arial" pitchFamily="34" charset="-120"/>
              </a:rPr>
              <a:t>実施結果報告（速報版）</a:t>
            </a:r>
            <a:endParaRPr lang="en-US" sz="2000" dirty="0"/>
          </a:p>
        </p:txBody>
      </p:sp>
      <p:sp>
        <p:nvSpPr>
          <p:cNvPr id="4" name="Text 2"/>
          <p:cNvSpPr/>
          <p:nvPr/>
        </p:nvSpPr>
        <p:spPr>
          <a:xfrm>
            <a:off x="640080" y="4297680"/>
            <a:ext cx="7863840" cy="365760"/>
          </a:xfrm>
          <a:prstGeom prst="rect">
            <a:avLst/>
          </a:prstGeom>
          <a:noFill/>
          <a:ln/>
        </p:spPr>
        <p:txBody>
          <a:bodyPr wrap="square" rtlCol="0" anchor="ctr"/>
          <a:lstStyle/>
          <a:p>
            <a:pPr indent="0" marL="0">
              <a:buNone/>
            </a:pPr>
            <a:r>
              <a:rPr lang="en-US" sz="1200" dirty="0">
                <a:solidFill>
                  <a:srgbClr val="9AA8D0"/>
                </a:solidFill>
                <a:latin typeface="Arial" pitchFamily="34" charset="0"/>
                <a:ea typeface="Arial" pitchFamily="34" charset="-122"/>
                <a:cs typeface="Arial" pitchFamily="34" charset="-120"/>
              </a:rPr>
              <a:t>2026年3月　マーケティング担当</a:t>
            </a:r>
            <a:endParaRPr lang="en-US" sz="1200" dirty="0"/>
          </a:p>
        </p:txBody>
      </p:sp>
      <p:sp>
        <p:nvSpPr>
          <p:cNvPr id="5" name="Text 3"/>
          <p:cNvSpPr/>
          <p:nvPr/>
        </p:nvSpPr>
        <p:spPr>
          <a:xfrm>
            <a:off x="640080" y="4663440"/>
            <a:ext cx="7863840" cy="320040"/>
          </a:xfrm>
          <a:prstGeom prst="rect">
            <a:avLst/>
          </a:prstGeom>
          <a:noFill/>
          <a:ln/>
        </p:spPr>
        <p:txBody>
          <a:bodyPr wrap="square" rtlCol="0" anchor="ctr"/>
          <a:lstStyle/>
          <a:p>
            <a:pPr indent="0" marL="0">
              <a:buNone/>
            </a:pPr>
            <a:r>
              <a:rPr lang="en-US" sz="1000" i="1" dirty="0">
                <a:solidFill>
                  <a:srgbClr val="7A88B0"/>
                </a:solidFill>
                <a:latin typeface="Arial" pitchFamily="34" charset="0"/>
                <a:ea typeface="Arial" pitchFamily="34" charset="-122"/>
                <a:cs typeface="Arial" pitchFamily="34" charset="-120"/>
              </a:rPr>
              <a:t>※速報版のため数値は変動する可能性があります</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600" b="1" dirty="0">
                <a:solidFill>
                  <a:srgbClr val="1E2761"/>
                </a:solidFill>
                <a:latin typeface="Arial" pitchFamily="34" charset="0"/>
                <a:ea typeface="Arial" pitchFamily="34" charset="-122"/>
                <a:cs typeface="Arial" pitchFamily="34" charset="-120"/>
              </a:rPr>
              <a:t>開催概要</a:t>
            </a:r>
            <a:endParaRPr lang="en-US" sz="2600" dirty="0"/>
          </a:p>
        </p:txBody>
      </p:sp>
      <p:sp>
        <p:nvSpPr>
          <p:cNvPr id="3" name="Text 1"/>
          <p:cNvSpPr/>
          <p:nvPr/>
        </p:nvSpPr>
        <p:spPr>
          <a:xfrm>
            <a:off x="548640" y="1188720"/>
            <a:ext cx="8046720" cy="2743200"/>
          </a:xfrm>
          <a:prstGeom prst="rect">
            <a:avLst/>
          </a:prstGeom>
          <a:noFill/>
          <a:ln/>
        </p:spPr>
        <p:txBody>
          <a:bodyPr wrap="square" rtlCol="0" anchor="ctr"/>
          <a:lstStyle/>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名称：使いこなし倶楽部 Vol.3（顧客向け活用セミナー）</a:t>
            </a:r>
            <a:endParaRPr lang="en-US" sz="1600" dirty="0"/>
          </a:p>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日時：2026年3月5日（木）14:00〜16:00</a:t>
            </a:r>
            <a:endParaRPr lang="en-US" sz="1600" dirty="0"/>
          </a:p>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形式：ハイブリッド開催（自社セミナールーム＋Zoom配信）</a:t>
            </a:r>
            <a:endParaRPr lang="en-US" sz="1600" dirty="0"/>
          </a:p>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対象：既存契約顧客（活用度の低い層を中心に招待）</a:t>
            </a:r>
            <a:endParaRPr lang="en-US" sz="1600" dirty="0"/>
          </a:p>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申込数：68名（会場38名／オンライン30名）</a:t>
            </a:r>
            <a:endParaRPr lang="en-US" sz="1600" dirty="0"/>
          </a:p>
        </p:txBody>
      </p:sp>
      <p:sp>
        <p:nvSpPr>
          <p:cNvPr id="4" name="Text 2"/>
          <p:cNvSpPr/>
          <p:nvPr/>
        </p:nvSpPr>
        <p:spPr>
          <a:xfrm>
            <a:off x="548640" y="4800600"/>
            <a:ext cx="4572000" cy="274320"/>
          </a:xfrm>
          <a:prstGeom prst="rect">
            <a:avLst/>
          </a:prstGeom>
          <a:noFill/>
          <a:ln/>
        </p:spPr>
        <p:txBody>
          <a:bodyPr wrap="square" rtlCol="0" anchor="ctr"/>
          <a:lstStyle/>
          <a:p>
            <a:pPr indent="0" marL="0">
              <a:buNone/>
            </a:pPr>
            <a:r>
              <a:rPr lang="en-US" sz="900" dirty="0">
                <a:solidFill>
                  <a:srgbClr val="999999"/>
                </a:solidFill>
                <a:latin typeface="Arial" pitchFamily="34" charset="0"/>
                <a:ea typeface="Arial" pitchFamily="34" charset="-122"/>
                <a:cs typeface="Arial" pitchFamily="34" charset="-120"/>
              </a:rPr>
              <a:t>使いこなし倶楽部 Vol.2 事務局</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600" b="1" dirty="0">
                <a:solidFill>
                  <a:srgbClr val="1E2761"/>
                </a:solidFill>
                <a:latin typeface="Arial" pitchFamily="34" charset="0"/>
                <a:ea typeface="Arial" pitchFamily="34" charset="-122"/>
                <a:cs typeface="Arial" pitchFamily="34" charset="-120"/>
              </a:rPr>
              <a:t>参加実績</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943600" cy="1828800"/>
        </p:xfrm>
        <a:graphic>
          <a:graphicData uri="http://schemas.openxmlformats.org/drawingml/2006/table">
            <a:tbl>
              <a:tblPr/>
              <a:tblGrid>
                <a:gridCol w="2286000"/>
                <a:gridCol w="1828800"/>
                <a:gridCol w="1828800"/>
              </a:tblGrid>
              <a:tr h="457200">
                <a:tc>
                  <a:txBody>
                    <a:bodyPr/>
                    <a:lstStyle/>
                    <a:p>
                      <a:pPr algn="ctr" indent="0" marL="0">
                        <a:buNone/>
                      </a:pPr>
                      <a:endParaRPr lang="en-US" sz="16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1F1F1"/>
                    </a:solidFill>
                  </a:tcPr>
                </a:tc>
                <a:tc>
                  <a:txBody>
                    <a:bodyPr/>
                    <a:lstStyle/>
                    <a:p>
                      <a:pPr algn="ctr" indent="0" marL="0">
                        <a:buNone/>
                      </a:pPr>
                      <a:r>
                        <a:rPr lang="en-US" sz="1600" b="1" dirty="0">
                          <a:solidFill>
                            <a:srgbClr val="000000"/>
                          </a:solidFill>
                          <a:latin typeface="Arial" pitchFamily="34" charset="0"/>
                          <a:ea typeface="Arial" pitchFamily="34" charset="-122"/>
                          <a:cs typeface="Arial" pitchFamily="34" charset="-120"/>
                        </a:rPr>
                        <a:t>目標</a:t>
                      </a:r>
                      <a:endParaRPr lang="en-US" sz="16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1F1F1"/>
                    </a:solidFill>
                  </a:tcPr>
                </a:tc>
                <a:tc>
                  <a:txBody>
                    <a:bodyPr/>
                    <a:lstStyle/>
                    <a:p>
                      <a:pPr algn="ctr" indent="0" marL="0">
                        <a:buNone/>
                      </a:pPr>
                      <a:r>
                        <a:rPr lang="en-US" sz="1600" b="1" dirty="0">
                          <a:solidFill>
                            <a:srgbClr val="000000"/>
                          </a:solidFill>
                          <a:latin typeface="Arial" pitchFamily="34" charset="0"/>
                          <a:ea typeface="Arial" pitchFamily="34" charset="-122"/>
                          <a:cs typeface="Arial" pitchFamily="34" charset="-120"/>
                        </a:rPr>
                        <a:t>実績</a:t>
                      </a:r>
                      <a:endParaRPr lang="en-US" sz="16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1F1F1"/>
                    </a:solidFill>
                  </a:tcPr>
                </a:tc>
              </a:tr>
              <a:tr h="457200">
                <a:tc>
                  <a:txBody>
                    <a:bodyPr/>
                    <a:lstStyle/>
                    <a:p>
                      <a:pPr algn="ctr" indent="0" marL="0">
                        <a:buNone/>
                      </a:pPr>
                      <a:r>
                        <a:rPr lang="en-US" sz="1600" dirty="0">
                          <a:solidFill>
                            <a:srgbClr val="000000"/>
                          </a:solidFill>
                          <a:latin typeface="Arial" pitchFamily="34" charset="0"/>
                          <a:ea typeface="Arial" pitchFamily="34" charset="-122"/>
                          <a:cs typeface="Arial" pitchFamily="34" charset="-120"/>
                        </a:rPr>
                        <a:t>会場</a:t>
                      </a:r>
                      <a:endParaRPr lang="en-US" sz="16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000000"/>
                          </a:solidFill>
                          <a:latin typeface="Arial" pitchFamily="34" charset="0"/>
                          <a:ea typeface="Arial" pitchFamily="34" charset="-122"/>
                          <a:cs typeface="Arial" pitchFamily="34" charset="-120"/>
                        </a:rPr>
                        <a:t>35名</a:t>
                      </a:r>
                      <a:endParaRPr lang="en-US" sz="16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000000"/>
                          </a:solidFill>
                          <a:latin typeface="Arial" pitchFamily="34" charset="0"/>
                          <a:ea typeface="Arial" pitchFamily="34" charset="-122"/>
                          <a:cs typeface="Arial" pitchFamily="34" charset="-120"/>
                        </a:rPr>
                        <a:t>30名</a:t>
                      </a:r>
                      <a:endParaRPr lang="en-US" sz="16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457200">
                <a:tc>
                  <a:txBody>
                    <a:bodyPr/>
                    <a:lstStyle/>
                    <a:p>
                      <a:pPr algn="ctr" indent="0" marL="0">
                        <a:buNone/>
                      </a:pPr>
                      <a:r>
                        <a:rPr lang="en-US" sz="1600" dirty="0">
                          <a:solidFill>
                            <a:srgbClr val="000000"/>
                          </a:solidFill>
                          <a:latin typeface="Arial" pitchFamily="34" charset="0"/>
                          <a:ea typeface="Arial" pitchFamily="34" charset="-122"/>
                          <a:cs typeface="Arial" pitchFamily="34" charset="-120"/>
                        </a:rPr>
                        <a:t>オンライン</a:t>
                      </a:r>
                      <a:endParaRPr lang="en-US" sz="16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000000"/>
                          </a:solidFill>
                          <a:latin typeface="Arial" pitchFamily="34" charset="0"/>
                          <a:ea typeface="Arial" pitchFamily="34" charset="-122"/>
                          <a:cs typeface="Arial" pitchFamily="34" charset="-120"/>
                        </a:rPr>
                        <a:t>25名</a:t>
                      </a:r>
                      <a:endParaRPr lang="en-US" sz="16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000000"/>
                          </a:solidFill>
                          <a:latin typeface="Arial" pitchFamily="34" charset="0"/>
                          <a:ea typeface="Arial" pitchFamily="34" charset="-122"/>
                          <a:cs typeface="Arial" pitchFamily="34" charset="-120"/>
                        </a:rPr>
                        <a:t>22名</a:t>
                      </a:r>
                      <a:endParaRPr lang="en-US" sz="16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457200">
                <a:tc>
                  <a:txBody>
                    <a:bodyPr/>
                    <a:lstStyle/>
                    <a:p>
                      <a:pPr algn="ctr" indent="0" marL="0">
                        <a:buNone/>
                      </a:pPr>
                      <a:r>
                        <a:rPr lang="en-US" sz="1600" b="1" dirty="0">
                          <a:solidFill>
                            <a:srgbClr val="000000"/>
                          </a:solidFill>
                          <a:latin typeface="Arial" pitchFamily="34" charset="0"/>
                          <a:ea typeface="Arial" pitchFamily="34" charset="-122"/>
                          <a:cs typeface="Arial" pitchFamily="34" charset="-120"/>
                        </a:rPr>
                        <a:t>合計</a:t>
                      </a:r>
                      <a:endParaRPr lang="en-US" sz="16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600" b="1" dirty="0">
                          <a:solidFill>
                            <a:srgbClr val="000000"/>
                          </a:solidFill>
                          <a:latin typeface="Arial" pitchFamily="34" charset="0"/>
                          <a:ea typeface="Arial" pitchFamily="34" charset="-122"/>
                          <a:cs typeface="Arial" pitchFamily="34" charset="-120"/>
                        </a:rPr>
                        <a:t>60名</a:t>
                      </a:r>
                      <a:endParaRPr lang="en-US" sz="16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600" b="1" dirty="0">
                          <a:solidFill>
                            <a:srgbClr val="000000"/>
                          </a:solidFill>
                          <a:latin typeface="Arial" pitchFamily="34" charset="0"/>
                          <a:ea typeface="Arial" pitchFamily="34" charset="-122"/>
                          <a:cs typeface="Arial" pitchFamily="34" charset="-120"/>
                        </a:rPr>
                        <a:t>52名</a:t>
                      </a:r>
                      <a:endParaRPr lang="en-US" sz="16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548640" y="3291840"/>
            <a:ext cx="8046720" cy="36576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申込68名に対し、当日出席は52名（出席率76.5%）</a:t>
            </a:r>
            <a:endParaRPr lang="en-US" sz="1400" dirty="0"/>
          </a:p>
        </p:txBody>
      </p:sp>
      <p:sp>
        <p:nvSpPr>
          <p:cNvPr id="5" name="Text 2"/>
          <p:cNvSpPr/>
          <p:nvPr/>
        </p:nvSpPr>
        <p:spPr>
          <a:xfrm>
            <a:off x="548640" y="3703320"/>
            <a:ext cx="8046720" cy="365760"/>
          </a:xfrm>
          <a:prstGeom prst="rect">
            <a:avLst/>
          </a:prstGeom>
          <a:noFill/>
          <a:ln/>
        </p:spPr>
        <p:txBody>
          <a:bodyPr wrap="square" rtlCol="0" anchor="ctr"/>
          <a:lstStyle/>
          <a:p>
            <a:pPr indent="0" marL="0">
              <a:buNone/>
            </a:pPr>
            <a:r>
              <a:rPr lang="en-US" sz="1200" i="1" dirty="0">
                <a:solidFill>
                  <a:srgbClr val="666666"/>
                </a:solidFill>
                <a:latin typeface="Arial" pitchFamily="34" charset="0"/>
                <a:ea typeface="Arial" pitchFamily="34" charset="-122"/>
                <a:cs typeface="Arial" pitchFamily="34" charset="-120"/>
              </a:rPr>
              <a:t>※無断キャンセル・未入室が想定より多かった（詳細はP.5）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600" b="1" dirty="0">
                <a:solidFill>
                  <a:srgbClr val="1E2761"/>
                </a:solidFill>
                <a:latin typeface="Arial" pitchFamily="34" charset="0"/>
                <a:ea typeface="Arial" pitchFamily="34" charset="-122"/>
                <a:cs typeface="Arial" pitchFamily="34" charset="-120"/>
              </a:rPr>
              <a:t>よかった点</a:t>
            </a:r>
            <a:endParaRPr lang="en-US" sz="2600" dirty="0"/>
          </a:p>
        </p:txBody>
      </p:sp>
      <p:sp>
        <p:nvSpPr>
          <p:cNvPr id="3" name="Text 1"/>
          <p:cNvSpPr/>
          <p:nvPr/>
        </p:nvSpPr>
        <p:spPr>
          <a:xfrm>
            <a:off x="548640" y="1188720"/>
            <a:ext cx="8046720" cy="2926080"/>
          </a:xfrm>
          <a:prstGeom prst="rect">
            <a:avLst/>
          </a:prstGeom>
          <a:noFill/>
          <a:ln/>
        </p:spPr>
        <p:txBody>
          <a:bodyPr wrap="square" rtlCol="0" anchor="ctr"/>
          <a:lstStyle/>
          <a:p>
            <a:pPr marL="342900" indent="-342900">
              <a:spcAft>
                <a:spcPts val="1400"/>
              </a:spcAft>
              <a:buSzPct val="100000"/>
              <a:buChar char="•"/>
            </a:pPr>
            <a:r>
              <a:rPr lang="en-US" sz="1600" dirty="0">
                <a:solidFill>
                  <a:srgbClr val="333333"/>
                </a:solidFill>
                <a:latin typeface="Arial" pitchFamily="34" charset="0"/>
                <a:ea typeface="Arial" pitchFamily="34" charset="-122"/>
                <a:cs typeface="Arial" pitchFamily="34" charset="-120"/>
              </a:rPr>
              <a:t>既存顧客向けの内容だったため質問が具体的で、商談につながりそうな反応が複数あった</a:t>
            </a:r>
            <a:endParaRPr lang="en-US" sz="1600" dirty="0"/>
          </a:p>
          <a:p>
            <a:pPr marL="342900" indent="-342900">
              <a:spcAft>
                <a:spcPts val="1400"/>
              </a:spcAft>
              <a:buSzPct val="100000"/>
              <a:buChar char="•"/>
            </a:pPr>
            <a:r>
              <a:rPr lang="en-US" sz="1600" dirty="0">
                <a:solidFill>
                  <a:srgbClr val="333333"/>
                </a:solidFill>
                <a:latin typeface="Arial" pitchFamily="34" charset="0"/>
                <a:ea typeface="Arial" pitchFamily="34" charset="-122"/>
                <a:cs typeface="Arial" pitchFamily="34" charset="-120"/>
              </a:rPr>
              <a:t>ハイブリッド形式にしたことで遠方の顧客も参加でき、オンライン申込が想定より多かった</a:t>
            </a:r>
            <a:endParaRPr lang="en-US" sz="1600" dirty="0"/>
          </a:p>
          <a:p>
            <a:pPr marL="342900" indent="-342900">
              <a:spcAft>
                <a:spcPts val="1400"/>
              </a:spcAft>
              <a:buSzPct val="100000"/>
              <a:buChar char="•"/>
            </a:pPr>
            <a:r>
              <a:rPr lang="en-US" sz="1600" dirty="0">
                <a:solidFill>
                  <a:srgbClr val="333333"/>
                </a:solidFill>
                <a:latin typeface="Arial" pitchFamily="34" charset="0"/>
                <a:ea typeface="Arial" pitchFamily="34" charset="-122"/>
                <a:cs typeface="Arial" pitchFamily="34" charset="-120"/>
              </a:rPr>
              <a:t>VIP顧客（エバーグリーン物流様）にも参加いただけた。個別フォローの機会にできそう</a:t>
            </a:r>
            <a:endParaRPr lang="en-US" sz="1600" dirty="0"/>
          </a:p>
          <a:p>
            <a:pPr marL="342900" indent="-342900">
              <a:spcAft>
                <a:spcPts val="1400"/>
              </a:spcAft>
              <a:buSzPct val="100000"/>
              <a:buChar char="•"/>
            </a:pPr>
            <a:r>
              <a:rPr lang="en-US" sz="1600" dirty="0">
                <a:solidFill>
                  <a:srgbClr val="333333"/>
                </a:solidFill>
                <a:latin typeface="Arial" pitchFamily="34" charset="0"/>
                <a:ea typeface="Arial" pitchFamily="34" charset="-122"/>
                <a:cs typeface="Arial" pitchFamily="34" charset="-120"/>
              </a:rPr>
              <a:t>会場設営・受付はスムーズ、大きなトラブルなし</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600" b="1" dirty="0">
                <a:solidFill>
                  <a:srgbClr val="1E2761"/>
                </a:solidFill>
                <a:latin typeface="Arial" pitchFamily="34" charset="0"/>
                <a:ea typeface="Arial" pitchFamily="34" charset="-122"/>
                <a:cs typeface="Arial" pitchFamily="34" charset="-120"/>
              </a:rPr>
              <a:t>課題</a:t>
            </a:r>
            <a:endParaRPr lang="en-US" sz="2600" dirty="0"/>
          </a:p>
        </p:txBody>
      </p:sp>
      <p:sp>
        <p:nvSpPr>
          <p:cNvPr id="3" name="Text 1"/>
          <p:cNvSpPr/>
          <p:nvPr/>
        </p:nvSpPr>
        <p:spPr>
          <a:xfrm>
            <a:off x="548640" y="1188720"/>
            <a:ext cx="8046720" cy="3108960"/>
          </a:xfrm>
          <a:prstGeom prst="rect">
            <a:avLst/>
          </a:prstGeom>
          <a:noFill/>
          <a:ln/>
        </p:spPr>
        <p:txBody>
          <a:bodyPr wrap="square" rtlCol="0" anchor="ctr"/>
          <a:lstStyle/>
          <a:p>
            <a:pPr marL="342900" indent="-342900">
              <a:spcAft>
                <a:spcPts val="1400"/>
              </a:spcAft>
              <a:buSzPct val="100000"/>
              <a:buChar char="•"/>
            </a:pPr>
            <a:r>
              <a:rPr lang="en-US" sz="1600" dirty="0">
                <a:solidFill>
                  <a:srgbClr val="333333"/>
                </a:solidFill>
                <a:latin typeface="Arial" pitchFamily="34" charset="0"/>
                <a:ea typeface="Arial" pitchFamily="34" charset="-122"/>
                <a:cs typeface="Arial" pitchFamily="34" charset="-120"/>
              </a:rPr>
              <a:t>オンライン参加者の一部から「開始10分ほど音声が聞き取りづらかった」とチャットで指摘あり</a:t>
            </a:r>
            <a:endParaRPr lang="en-US" sz="1600" dirty="0"/>
          </a:p>
          <a:p>
            <a:pPr marL="342900" indent="-342900">
              <a:spcAft>
                <a:spcPts val="1400"/>
              </a:spcAft>
              <a:buSzPct val="100000"/>
              <a:buChar char="•"/>
            </a:pPr>
            <a:r>
              <a:rPr lang="en-US" sz="1600" dirty="0">
                <a:solidFill>
                  <a:srgbClr val="333333"/>
                </a:solidFill>
                <a:latin typeface="Arial" pitchFamily="34" charset="0"/>
                <a:ea typeface="Arial" pitchFamily="34" charset="-122"/>
                <a:cs typeface="Arial" pitchFamily="34" charset="-120"/>
              </a:rPr>
              <a:t>当日の無断欠席・未入室が申込の2割強。前日リマインドの送信タイミングを見直す必要あり</a:t>
            </a:r>
            <a:endParaRPr lang="en-US" sz="1600" dirty="0"/>
          </a:p>
          <a:p>
            <a:pPr marL="342900" indent="-342900">
              <a:spcAft>
                <a:spcPts val="1400"/>
              </a:spcAft>
              <a:buSzPct val="100000"/>
              <a:buChar char="•"/>
            </a:pPr>
            <a:r>
              <a:rPr lang="en-US" sz="1600" dirty="0">
                <a:solidFill>
                  <a:srgbClr val="333333"/>
                </a:solidFill>
                <a:latin typeface="Arial" pitchFamily="34" charset="0"/>
                <a:ea typeface="Arial" pitchFamily="34" charset="-122"/>
                <a:cs typeface="Arial" pitchFamily="34" charset="-120"/>
              </a:rPr>
              <a:t>台風接近の影響で会場参加からオンライン参加への当日切り替えが3件発生、座席・名簿の管理が煩雑に</a:t>
            </a:r>
            <a:endParaRPr lang="en-US" sz="1600" dirty="0"/>
          </a:p>
          <a:p>
            <a:pPr marL="342900" indent="-342900">
              <a:spcAft>
                <a:spcPts val="1400"/>
              </a:spcAft>
              <a:buSzPct val="100000"/>
              <a:buChar char="•"/>
            </a:pPr>
            <a:r>
              <a:rPr lang="en-US" sz="1600" dirty="0">
                <a:solidFill>
                  <a:srgbClr val="333333"/>
                </a:solidFill>
                <a:latin typeface="Arial" pitchFamily="34" charset="0"/>
                <a:ea typeface="Arial" pitchFamily="34" charset="-122"/>
                <a:cs typeface="Arial" pitchFamily="34" charset="-120"/>
              </a:rPr>
              <a:t>名刺・申込情報の重複や表記ゆれ（同一人物が別々に登録）が複数件、名寄せ作業が必要</a:t>
            </a:r>
            <a:endParaRPr lang="en-US" sz="1600" dirty="0"/>
          </a:p>
        </p:txBody>
      </p:sp>
      <p:sp>
        <p:nvSpPr>
          <p:cNvPr id="4" name="Text 2"/>
          <p:cNvSpPr/>
          <p:nvPr/>
        </p:nvSpPr>
        <p:spPr>
          <a:xfrm>
            <a:off x="548640" y="4800600"/>
            <a:ext cx="4572000" cy="274320"/>
          </a:xfrm>
          <a:prstGeom prst="rect">
            <a:avLst/>
          </a:prstGeom>
          <a:noFill/>
          <a:ln/>
        </p:spPr>
        <p:txBody>
          <a:bodyPr wrap="square" rtlCol="0" anchor="ctr"/>
          <a:lstStyle/>
          <a:p>
            <a:pPr indent="0" marL="0">
              <a:buNone/>
            </a:pPr>
            <a:r>
              <a:rPr lang="en-US" sz="900" dirty="0">
                <a:solidFill>
                  <a:srgbClr val="999999"/>
                </a:solidFill>
                <a:latin typeface="Arial" pitchFamily="34" charset="0"/>
                <a:ea typeface="Arial" pitchFamily="34" charset="-122"/>
                <a:cs typeface="Arial" pitchFamily="34" charset="-120"/>
              </a:rPr>
              <a:t>使いこなし倶楽部 Vol.2 事務局</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600" b="1" dirty="0">
                <a:solidFill>
                  <a:srgbClr val="1E2761"/>
                </a:solidFill>
                <a:latin typeface="Arial" pitchFamily="34" charset="0"/>
                <a:ea typeface="Arial" pitchFamily="34" charset="-122"/>
                <a:cs typeface="Arial" pitchFamily="34" charset="-120"/>
              </a:rPr>
              <a:t>アンケート結果（速報）</a:t>
            </a:r>
            <a:endParaRPr lang="en-US" sz="2600" dirty="0"/>
          </a:p>
        </p:txBody>
      </p:sp>
      <p:sp>
        <p:nvSpPr>
          <p:cNvPr id="3" name="Text 1"/>
          <p:cNvSpPr/>
          <p:nvPr/>
        </p:nvSpPr>
        <p:spPr>
          <a:xfrm>
            <a:off x="548640" y="1188720"/>
            <a:ext cx="8046720" cy="2011680"/>
          </a:xfrm>
          <a:prstGeom prst="rect">
            <a:avLst/>
          </a:prstGeom>
          <a:noFill/>
          <a:ln/>
        </p:spPr>
        <p:txBody>
          <a:bodyPr wrap="square" rtlCol="0" anchor="ctr"/>
          <a:lstStyle/>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回収数：32件／参加者54名（回収率59.3%）</a:t>
            </a:r>
            <a:endParaRPr lang="en-US" sz="1600" dirty="0"/>
          </a:p>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満足度スコア：集計中（担当：中村　※3/10までに本資料に追記予定）</a:t>
            </a:r>
            <a:endParaRPr lang="en-US" sz="1600" dirty="0"/>
          </a:p>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自由記述コメントは概ね好意的。音声トラブルへの指摘が複数件あり（詳細はアンケート集計結果PDF参照）</a:t>
            </a:r>
            <a:endParaRPr lang="en-US" sz="1600" dirty="0"/>
          </a:p>
        </p:txBody>
      </p:sp>
      <p:sp>
        <p:nvSpPr>
          <p:cNvPr id="4" name="Text 2"/>
          <p:cNvSpPr/>
          <p:nvPr/>
        </p:nvSpPr>
        <p:spPr>
          <a:xfrm>
            <a:off x="548640" y="3383280"/>
            <a:ext cx="8046720" cy="365760"/>
          </a:xfrm>
          <a:prstGeom prst="rect">
            <a:avLst/>
          </a:prstGeom>
          <a:noFill/>
          <a:ln/>
        </p:spPr>
        <p:txBody>
          <a:bodyPr wrap="square" rtlCol="0" anchor="ctr"/>
          <a:lstStyle/>
          <a:p>
            <a:pPr indent="0" marL="0">
              <a:buNone/>
            </a:pPr>
            <a:r>
              <a:rPr lang="en-US" sz="1300" i="1" dirty="0">
                <a:solidFill>
                  <a:srgbClr val="990011"/>
                </a:solidFill>
                <a:latin typeface="Arial" pitchFamily="34" charset="0"/>
                <a:ea typeface="Arial" pitchFamily="34" charset="-122"/>
                <a:cs typeface="Arial" pitchFamily="34" charset="-120"/>
              </a:rPr>
              <a:t>TBD：満足度の目標値との比較グラフを追加する</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600" b="1" dirty="0">
                <a:solidFill>
                  <a:srgbClr val="1E2761"/>
                </a:solidFill>
                <a:latin typeface="Arial" pitchFamily="34" charset="0"/>
                <a:ea typeface="Arial" pitchFamily="34" charset="-122"/>
                <a:cs typeface="Arial" pitchFamily="34" charset="-120"/>
              </a:rPr>
              <a:t>次回に向けてのアクション</a:t>
            </a:r>
            <a:endParaRPr lang="en-US" sz="2600" dirty="0"/>
          </a:p>
        </p:txBody>
      </p:sp>
      <p:sp>
        <p:nvSpPr>
          <p:cNvPr id="3" name="Text 1"/>
          <p:cNvSpPr/>
          <p:nvPr/>
        </p:nvSpPr>
        <p:spPr>
          <a:xfrm>
            <a:off x="548640" y="1188720"/>
            <a:ext cx="8046720" cy="3291840"/>
          </a:xfrm>
          <a:prstGeom prst="rect">
            <a:avLst/>
          </a:prstGeom>
          <a:noFill/>
          <a:ln/>
        </p:spPr>
        <p:txBody>
          <a:bodyPr wrap="square" rtlCol="0" anchor="ctr"/>
          <a:lstStyle/>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前日リマインドを2回（3日前・前日）に増やす</a:t>
            </a:r>
            <a:endParaRPr lang="en-US" sz="1600" dirty="0"/>
          </a:p>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オンライン配信の音響チェックを開始30分前に必ず実施するルール化</a:t>
            </a:r>
            <a:endParaRPr lang="en-US" sz="1600" dirty="0"/>
          </a:p>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申込フォームに既存登録者向け自動チェックを入れ、重複登録を減らす（要IT部門相談）</a:t>
            </a:r>
            <a:endParaRPr lang="en-US" sz="1600" dirty="0"/>
          </a:p>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当日変更（会場⇄オンライン）の受付フローを事前に決めておく</a:t>
            </a:r>
            <a:endParaRPr lang="en-US" sz="1600" dirty="0"/>
          </a:p>
          <a:p>
            <a:pPr marL="342900" indent="-342900">
              <a:spcAft>
                <a:spcPts val="1200"/>
              </a:spcAft>
              <a:buSzPct val="100000"/>
              <a:buChar char="•"/>
            </a:pPr>
            <a:r>
              <a:rPr lang="en-US" sz="1600" dirty="0">
                <a:solidFill>
                  <a:srgbClr val="333333"/>
                </a:solidFill>
                <a:latin typeface="Arial" pitchFamily="34" charset="0"/>
                <a:ea typeface="Arial" pitchFamily="34" charset="-122"/>
                <a:cs typeface="Arial" pitchFamily="34" charset="-120"/>
              </a:rPr>
              <a:t>TBD：Vol.4の開催時期・テーマは未定、来週の定例で相談</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600" b="1" dirty="0">
                <a:solidFill>
                  <a:srgbClr val="1E2761"/>
                </a:solidFill>
                <a:latin typeface="Arial" pitchFamily="34" charset="0"/>
                <a:ea typeface="Arial" pitchFamily="34" charset="-122"/>
                <a:cs typeface="Arial" pitchFamily="34" charset="-120"/>
              </a:rPr>
              <a:t>参考：過去回との比較</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1828800"/>
        </p:xfrm>
        <a:graphic>
          <a:graphicData uri="http://schemas.openxmlformats.org/drawingml/2006/table">
            <a:tbl>
              <a:tblPr/>
              <a:tblGrid>
                <a:gridCol w="1828800"/>
                <a:gridCol w="2075688"/>
                <a:gridCol w="2075688"/>
                <a:gridCol w="2066544"/>
              </a:tblGrid>
              <a:tr h="457200">
                <a:tc>
                  <a:txBody>
                    <a:bodyPr/>
                    <a:lstStyle/>
                    <a:p>
                      <a:pPr algn="ctr" indent="0" marL="0">
                        <a:buNone/>
                      </a:pP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1F1F1"/>
                    </a:solidFill>
                  </a:tcPr>
                </a:tc>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Vol.1</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1F1F1"/>
                    </a:solidFill>
                  </a:tcPr>
                </a:tc>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Vol.2</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1F1F1"/>
                    </a:solidFill>
                  </a:tcPr>
                </a:tc>
                <a:tc>
                  <a:txBody>
                    <a:bodyPr/>
                    <a:lstStyle/>
                    <a:p>
                      <a:pPr algn="ctr" indent="0" marL="0">
                        <a:buNone/>
                      </a:pPr>
                      <a:r>
                        <a:rPr lang="en-US" sz="1400" b="1" dirty="0">
                          <a:solidFill>
                            <a:srgbClr val="000000"/>
                          </a:solidFill>
                          <a:latin typeface="Arial" pitchFamily="34" charset="0"/>
                          <a:ea typeface="Arial" pitchFamily="34" charset="-122"/>
                          <a:cs typeface="Arial" pitchFamily="34" charset="-120"/>
                        </a:rPr>
                        <a:t>Vol.3</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1F1F1"/>
                    </a:solidFill>
                  </a:tcPr>
                </a:tc>
              </a:tr>
              <a:tr h="457200">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開催形式</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会場のみ</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ハイブリッド</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ハイブリッド</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457200">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参加者数</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要確認（記録が見当たらない）</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45名</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52名</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457200">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満足度</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未実施</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4.2/5</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400" dirty="0">
                          <a:solidFill>
                            <a:srgbClr val="000000"/>
                          </a:solidFill>
                          <a:latin typeface="Arial" pitchFamily="34" charset="0"/>
                          <a:ea typeface="Arial" pitchFamily="34" charset="-122"/>
                          <a:cs typeface="Arial" pitchFamily="34" charset="-120"/>
                        </a:rPr>
                        <a:t>集計中</a:t>
                      </a:r>
                      <a:endParaRPr lang="en-US" sz="14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548640" y="3200400"/>
            <a:ext cx="8046720" cy="457200"/>
          </a:xfrm>
          <a:prstGeom prst="rect">
            <a:avLst/>
          </a:prstGeom>
          <a:noFill/>
          <a:ln/>
        </p:spPr>
        <p:txBody>
          <a:bodyPr wrap="square" rtlCol="0" anchor="ctr"/>
          <a:lstStyle/>
          <a:p>
            <a:pPr indent="0" marL="0">
              <a:buNone/>
            </a:pPr>
            <a:r>
              <a:rPr lang="en-US" sz="1200" i="1" dirty="0">
                <a:solidFill>
                  <a:srgbClr val="666666"/>
                </a:solidFill>
                <a:latin typeface="Arial" pitchFamily="34" charset="0"/>
                <a:ea typeface="Arial" pitchFamily="34" charset="-122"/>
                <a:cs typeface="Arial" pitchFamily="34" charset="-120"/>
              </a:rPr>
              <a:t>※Vol.1のデータは前担当者からの引き継ぎ資料に見当たらず。倉庫のファイルか確認中</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使いこなし倶楽部Vol.3 実施結果報告(速報)</dc:title>
  <dc:subject>PptxGenJS Presentation</dc:subject>
  <dc:creator>マーケティング担当</dc:creator>
  <cp:lastModifiedBy>マーケティング担当</cp:lastModifiedBy>
  <cp:revision>1</cp:revision>
  <dcterms:created xsi:type="dcterms:W3CDTF">2026-07-10T07:12:00Z</dcterms:created>
  <dcterms:modified xsi:type="dcterms:W3CDTF">2026-07-10T07:12:00Z</dcterms:modified>
</cp:coreProperties>
</file>